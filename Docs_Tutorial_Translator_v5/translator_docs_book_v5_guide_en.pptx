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basis: user-provided translator_docs_book_v5.py (CLI options, OCR modes, output artifacts, runtime behavior).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basis: user-provided translator_docs_book_v5.py (CLI options, OCR modes, output artifacts, runtime behavior).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basis: user-provided translator_docs_book_v5.py (CLI options, OCR modes, output artifacts, runtime behavior).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basis: user-provided translator_docs_book_v5.py (CLI options, OCR modes, output artifacts, runtime behavior).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basis: user-provided translator_docs_book_v5.py (CLI options, OCR modes, output artifacts, runtime behavior).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D"/>
          </a:solidFill>
          <a:ln w="12700">
            <a:solidFill>
              <a:srgbClr val="F7FA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6EC8"/>
          </a:solidFill>
          <a:ln w="12700">
            <a:solidFill>
              <a:srgbClr val="2F6EC8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37376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7A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37376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7A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13232"/>
            <a:ext cx="4709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6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End-User Guide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2036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translator_docs_book_v5.exe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609344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2736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concise customer guide for running the CLI, choosing OCR, reviewing outputs, and escalating issues.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640080" y="276148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6E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Customer-facing quick reference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301752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736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Designed for PDF, Word, PowerPoint, Excel, ebook, and mixed document batches.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852160" y="621792"/>
            <a:ext cx="566928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6000"/>
              </a:srgbClr>
            </a:outerShdw>
          </a:effectLst>
        </p:spPr>
      </p:sp>
      <p:pic>
        <p:nvPicPr>
          <p:cNvPr id="7" name="Image 0" descr="/mnt/data/translator_docs_book_v5_guides/assets/hero.png">    </p:cNvPr>
          <p:cNvPicPr>
            <a:picLocks noChangeAspect="1"/>
          </p:cNvPicPr>
          <p:nvPr/>
        </p:nvPicPr>
        <p:blipFill>
          <a:blip r:embed="rId1"/>
          <a:srcRect l="3610" r="3610" t="0" b="0"/>
          <a:stretch/>
        </p:blipFill>
        <p:spPr>
          <a:xfrm>
            <a:off x="5925312" y="694944"/>
            <a:ext cx="5522976" cy="396849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4041648"/>
            <a:ext cx="2331720" cy="512064"/>
          </a:xfrm>
          <a:prstGeom prst="roundRect">
            <a:avLst>
              <a:gd name="adj" fmla="val 21429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41248" y="418795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E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 · OCR · Logs · QA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66928" y="647395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C7A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translator_docs_book_v5.exe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37376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7A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6E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COMMAND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6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Quick start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078992"/>
            <a:ext cx="10972800" cy="0"/>
          </a:xfrm>
          <a:prstGeom prst="line">
            <a:avLst/>
          </a:prstGeom>
          <a:noFill/>
          <a:ln w="12700">
            <a:solidFill>
              <a:srgbClr val="D8E2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325880"/>
            <a:ext cx="52120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630" dirty="0">
                <a:solidFill>
                  <a:srgbClr val="2736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PowerShell in the EXE folder and call it with .\translator_docs_book_v5.exe.</a:t>
            </a:r>
            <a:pPr indent="0" marL="0">
              <a:buNone/>
            </a:pPr>
            <a:r>
              <a:rPr lang="en-US" sz="1630" dirty="0">
                <a:solidFill>
                  <a:srgbClr val="2736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630" dirty="0"/>
          </a:p>
          <a:p>
            <a:pPr marL="177800" indent="-177800">
              <a:buSzPct val="100000"/>
              <a:buChar char="•"/>
            </a:pPr>
            <a:r>
              <a:rPr lang="en-US" sz="1630" dirty="0">
                <a:solidFill>
                  <a:srgbClr val="2736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 either a single file or an input folder as input_path.</a:t>
            </a:r>
            <a:pPr indent="0" marL="0">
              <a:buNone/>
            </a:pPr>
            <a:r>
              <a:rPr lang="en-US" sz="1630" dirty="0">
                <a:solidFill>
                  <a:srgbClr val="2736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630" dirty="0"/>
          </a:p>
          <a:p>
            <a:pPr marL="177800" indent="-177800">
              <a:buSzPct val="100000"/>
              <a:buChar char="•"/>
            </a:pPr>
            <a:r>
              <a:rPr lang="en-US" sz="1630" dirty="0">
                <a:solidFill>
                  <a:srgbClr val="2736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Always provide an output root with --out.</a:t>
            </a:r>
            <a:pPr indent="0" marL="0">
              <a:buNone/>
            </a:pPr>
            <a:r>
              <a:rPr lang="en-US" sz="1630" dirty="0">
                <a:solidFill>
                  <a:srgbClr val="2736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630" dirty="0"/>
          </a:p>
          <a:p>
            <a:pPr marL="177800" indent="-177800">
              <a:buSzPct val="100000"/>
              <a:buChar char="•"/>
            </a:pPr>
            <a:r>
              <a:rPr lang="en-US" sz="1630" dirty="0">
                <a:solidFill>
                  <a:srgbClr val="2736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--ocr auto when you are not sure whether a PDF is text-based or scanned.</a:t>
            </a:r>
            <a:pPr indent="0" marL="0">
              <a:buNone/>
            </a:pPr>
            <a:r>
              <a:rPr lang="en-US" sz="1630" dirty="0">
                <a:solidFill>
                  <a:srgbClr val="2736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630" dirty="0"/>
          </a:p>
          <a:p>
            <a:pPr marL="177800" indent="-177800">
              <a:buSzPct val="100000"/>
              <a:buChar char="•"/>
            </a:pPr>
            <a:r>
              <a:rPr lang="en-US" sz="1630" dirty="0">
                <a:solidFill>
                  <a:srgbClr val="2736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 with --max-files 3 before running a large batch.</a:t>
            </a:r>
            <a:endParaRPr lang="en-US" sz="1630" dirty="0"/>
          </a:p>
        </p:txBody>
      </p:sp>
      <p:sp>
        <p:nvSpPr>
          <p:cNvPr id="6" name="Shape 4"/>
          <p:cNvSpPr/>
          <p:nvPr/>
        </p:nvSpPr>
        <p:spPr>
          <a:xfrm>
            <a:off x="5943600" y="1234440"/>
            <a:ext cx="5440680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6000"/>
              </a:srgbClr>
            </a:outerShdw>
          </a:effectLst>
        </p:spPr>
      </p:sp>
      <p:pic>
        <p:nvPicPr>
          <p:cNvPr id="7" name="Image 0" descr="/mnt/data/a_digital_illustration_in_a_flat_modern_style_dep.png">    </p:cNvPr>
          <p:cNvPicPr>
            <a:picLocks noChangeAspect="1"/>
          </p:cNvPicPr>
          <p:nvPr/>
        </p:nvPicPr>
        <p:blipFill>
          <a:blip r:embed="rId1"/>
          <a:srcRect l="7952" r="7952" t="0" b="0"/>
          <a:stretch/>
        </p:blipFill>
        <p:spPr>
          <a:xfrm>
            <a:off x="6016752" y="1307592"/>
            <a:ext cx="5294376" cy="41970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66928" y="647395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C7A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Example: .\translator_docs_book_v5.exe "D:\Input" --out "D:\Output" --ocr auto --source-lang auto --target-lang vi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37376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7A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6E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COMMON SCENARIOS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6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Common formats and presets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078992"/>
            <a:ext cx="10972800" cy="0"/>
          </a:xfrm>
          <a:prstGeom prst="line">
            <a:avLst/>
          </a:prstGeom>
          <a:noFill/>
          <a:ln w="12700">
            <a:solidFill>
              <a:srgbClr val="D8E2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298448"/>
            <a:ext cx="5166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dirty="0">
                <a:solidFill>
                  <a:srgbClr val="2736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tool works well for mixed batches such as PDF, DOCX, PPTX, XLSX, EPUB, HTML, Markdown, TXT, and several auxiliary formats.</a:t>
            </a:r>
            <a:endParaRPr lang="en-US" sz="1560" dirty="0"/>
          </a:p>
        </p:txBody>
      </p:sp>
      <p:sp>
        <p:nvSpPr>
          <p:cNvPr id="6" name="Text 4"/>
          <p:cNvSpPr/>
          <p:nvPr/>
        </p:nvSpPr>
        <p:spPr>
          <a:xfrm>
            <a:off x="658368" y="2267712"/>
            <a:ext cx="52120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dirty="0">
                <a:solidFill>
                  <a:srgbClr val="2736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Useful presets</a:t>
            </a:r>
            <a:endParaRPr lang="en-US" sz="1520" dirty="0"/>
          </a:p>
          <a:p>
            <a:pPr indent="0" marL="0">
              <a:buNone/>
            </a:pPr>
            <a:r>
              <a:rPr lang="en-US" sz="1520" dirty="0">
                <a:solidFill>
                  <a:srgbClr val="2736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Scanned Chinese PDF → --ocr all --ocr-lang chi_sim+eng --source-lang zh-CN --target-lang vi</a:t>
            </a:r>
            <a:endParaRPr lang="en-US" sz="1520" dirty="0"/>
          </a:p>
          <a:p>
            <a:pPr indent="0" marL="0">
              <a:buNone/>
            </a:pPr>
            <a:r>
              <a:rPr lang="en-US" sz="1520" dirty="0">
                <a:solidFill>
                  <a:srgbClr val="2736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Scanned Japanese PDF → --ocr all --ocr-lang jpn+eng --source-lang ja --target-lang en</a:t>
            </a:r>
            <a:endParaRPr lang="en-US" sz="1520" dirty="0"/>
          </a:p>
          <a:p>
            <a:pPr indent="0" marL="0">
              <a:buNone/>
            </a:pPr>
            <a:r>
              <a:rPr lang="en-US" sz="1520" dirty="0">
                <a:solidFill>
                  <a:srgbClr val="2736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Internal Word / PowerPoint / Excel set → --ocr off or --ocr auto</a:t>
            </a:r>
            <a:endParaRPr lang="en-US" sz="1520" dirty="0"/>
          </a:p>
          <a:p>
            <a:pPr indent="0" marL="0">
              <a:buNone/>
            </a:pPr>
            <a:r>
              <a:rPr lang="en-US" sz="1520" dirty="0">
                <a:solidFill>
                  <a:srgbClr val="2736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Fast pilot run → --max-files 3</a:t>
            </a:r>
            <a:endParaRPr lang="en-US" sz="1520" dirty="0"/>
          </a:p>
        </p:txBody>
      </p:sp>
      <p:sp>
        <p:nvSpPr>
          <p:cNvPr id="7" name="Shape 5"/>
          <p:cNvSpPr/>
          <p:nvPr/>
        </p:nvSpPr>
        <p:spPr>
          <a:xfrm>
            <a:off x="5980176" y="1234440"/>
            <a:ext cx="5394960" cy="4389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6000"/>
              </a:srgbClr>
            </a:outerShdw>
          </a:effectLst>
        </p:spPr>
      </p:sp>
      <p:pic>
        <p:nvPicPr>
          <p:cNvPr id="8" name="Image 0" descr="/mnt/data/translator_docs_book_v5_guides/assets/formats.png">    </p:cNvPr>
          <p:cNvPicPr>
            <a:picLocks noChangeAspect="1"/>
          </p:cNvPicPr>
          <p:nvPr/>
        </p:nvPicPr>
        <p:blipFill>
          <a:blip r:embed="rId1"/>
          <a:srcRect l="8764" r="8764" t="0" b="0"/>
          <a:stretch/>
        </p:blipFill>
        <p:spPr>
          <a:xfrm>
            <a:off x="6053328" y="1307592"/>
            <a:ext cx="5248656" cy="424281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66928" y="647395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C7A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--list-supported-formats to print the supported extension list.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37376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7A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6E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TO CHECK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6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the output package contains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078992"/>
            <a:ext cx="10972800" cy="0"/>
          </a:xfrm>
          <a:prstGeom prst="line">
            <a:avLst/>
          </a:prstGeom>
          <a:noFill/>
          <a:ln w="12700">
            <a:solidFill>
              <a:srgbClr val="D8E2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298448"/>
            <a:ext cx="5166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736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four artifact groups first: batch_summary.json for the overall batch view, translation_report.json for document detail, translation_log.csv for segment issues, and bilingual.md for a human-readable QA pass.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658368" y="297180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dirty="0">
                <a:solidFill>
                  <a:srgbClr val="2736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Typical structure</a:t>
            </a:r>
            <a:endParaRPr lang="en-US" sz="1520" dirty="0"/>
          </a:p>
          <a:p>
            <a:pPr indent="0" marL="0">
              <a:buNone/>
            </a:pPr>
            <a:r>
              <a:rPr lang="en-US" sz="1520" dirty="0">
                <a:solidFill>
                  <a:srgbClr val="2736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01_source</a:t>
            </a:r>
            <a:endParaRPr lang="en-US" sz="1520" dirty="0"/>
          </a:p>
          <a:p>
            <a:pPr indent="0" marL="0">
              <a:buNone/>
            </a:pPr>
            <a:r>
              <a:rPr lang="en-US" sz="1520" dirty="0">
                <a:solidFill>
                  <a:srgbClr val="2736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02_extracted</a:t>
            </a:r>
            <a:endParaRPr lang="en-US" sz="1520" dirty="0"/>
          </a:p>
          <a:p>
            <a:pPr indent="0" marL="0">
              <a:buNone/>
            </a:pPr>
            <a:r>
              <a:rPr lang="en-US" sz="1520" dirty="0">
                <a:solidFill>
                  <a:srgbClr val="2736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03_translation</a:t>
            </a:r>
            <a:endParaRPr lang="en-US" sz="1520" dirty="0"/>
          </a:p>
          <a:p>
            <a:pPr indent="0" marL="0">
              <a:buNone/>
            </a:pPr>
            <a:r>
              <a:rPr lang="en-US" sz="1520" dirty="0">
                <a:solidFill>
                  <a:srgbClr val="2736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04_indexes</a:t>
            </a:r>
            <a:endParaRPr lang="en-US" sz="1520" dirty="0"/>
          </a:p>
          <a:p>
            <a:pPr indent="0" marL="0">
              <a:buNone/>
            </a:pPr>
            <a:r>
              <a:rPr lang="en-US" sz="1520" dirty="0">
                <a:solidFill>
                  <a:srgbClr val="2736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08_logs</a:t>
            </a:r>
            <a:endParaRPr lang="en-US" sz="1520" dirty="0"/>
          </a:p>
          <a:p>
            <a:pPr indent="0" marL="0">
              <a:buNone/>
            </a:pPr>
            <a:r>
              <a:rPr lang="en-US" sz="1520" dirty="0">
                <a:solidFill>
                  <a:srgbClr val="2736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09_reports</a:t>
            </a:r>
            <a:endParaRPr lang="en-US" sz="1520" dirty="0"/>
          </a:p>
          <a:p>
            <a:pPr indent="0" marL="0">
              <a:buNone/>
            </a:pPr>
            <a:r>
              <a:rPr lang="en-US" sz="1520" dirty="0">
                <a:solidFill>
                  <a:srgbClr val="2736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manifest.json</a:t>
            </a:r>
            <a:endParaRPr lang="en-US" sz="1520" dirty="0"/>
          </a:p>
          <a:p>
            <a:pPr indent="0" marL="0">
              <a:buNone/>
            </a:pPr>
            <a:r>
              <a:rPr lang="en-US" sz="1520" dirty="0">
                <a:solidFill>
                  <a:srgbClr val="2736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batch_summary.json</a:t>
            </a:r>
            <a:endParaRPr lang="en-US" sz="1520" dirty="0"/>
          </a:p>
        </p:txBody>
      </p:sp>
      <p:sp>
        <p:nvSpPr>
          <p:cNvPr id="7" name="Shape 5"/>
          <p:cNvSpPr/>
          <p:nvPr/>
        </p:nvSpPr>
        <p:spPr>
          <a:xfrm>
            <a:off x="5980176" y="1234440"/>
            <a:ext cx="5394960" cy="4389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6000"/>
              </a:srgbClr>
            </a:outerShdw>
          </a:effectLst>
        </p:spPr>
      </p:sp>
      <p:pic>
        <p:nvPicPr>
          <p:cNvPr id="8" name="Image 0" descr="/mnt/data/translator_docs_book_v5_guides/assets/output.png">    </p:cNvPr>
          <p:cNvPicPr>
            <a:picLocks noChangeAspect="1"/>
          </p:cNvPicPr>
          <p:nvPr/>
        </p:nvPicPr>
        <p:blipFill>
          <a:blip r:embed="rId1"/>
          <a:srcRect l="8764" r="8764" t="0" b="0"/>
          <a:stretch/>
        </p:blipFill>
        <p:spPr>
          <a:xfrm>
            <a:off x="6053328" y="1307592"/>
            <a:ext cx="5248656" cy="424281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66928" y="647395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C7A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logs and indexes enabled for QA, traceability, and support handoff.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37376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7A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6E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THINGS GO WRONG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6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Troubleshooting and support checklist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078992"/>
            <a:ext cx="10972800" cy="0"/>
          </a:xfrm>
          <a:prstGeom prst="line">
            <a:avLst/>
          </a:prstGeom>
          <a:noFill/>
          <a:ln w="12700">
            <a:solidFill>
              <a:srgbClr val="D8E2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298448"/>
            <a:ext cx="516636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560" dirty="0">
                <a:solidFill>
                  <a:srgbClr val="2736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PowerShell does not recognize the command, prefix the EXE with .\.</a:t>
            </a:r>
            <a:pPr indent="0" marL="0">
              <a:buNone/>
            </a:pPr>
            <a:r>
              <a:rPr lang="en-US" sz="1560" dirty="0">
                <a:solidFill>
                  <a:srgbClr val="2736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560" dirty="0"/>
          </a:p>
          <a:p>
            <a:pPr marL="177800" indent="-177800">
              <a:buSzPct val="100000"/>
              <a:buChar char="•"/>
            </a:pPr>
            <a:r>
              <a:rPr lang="en-US" sz="1560" dirty="0">
                <a:solidFill>
                  <a:srgbClr val="2736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OCR output is sparse or empty, verify Tesseract and try --show-tesseract-info or --ocr all.</a:t>
            </a:r>
            <a:pPr indent="0" marL="0">
              <a:buNone/>
            </a:pPr>
            <a:r>
              <a:rPr lang="en-US" sz="1560" dirty="0">
                <a:solidFill>
                  <a:srgbClr val="2736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560" dirty="0"/>
          </a:p>
          <a:p>
            <a:pPr marL="177800" indent="-177800">
              <a:buSzPct val="100000"/>
              <a:buChar char="•"/>
            </a:pPr>
            <a:r>
              <a:rPr lang="en-US" sz="1560" dirty="0">
                <a:solidFill>
                  <a:srgbClr val="2736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documents are skipped, consider --overwrite-translation and --no-skip-existing.</a:t>
            </a:r>
            <a:pPr indent="0" marL="0">
              <a:buNone/>
            </a:pPr>
            <a:r>
              <a:rPr lang="en-US" sz="1560" dirty="0">
                <a:solidFill>
                  <a:srgbClr val="2736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560" dirty="0"/>
          </a:p>
          <a:p>
            <a:pPr marL="177800" indent="-177800">
              <a:buSzPct val="100000"/>
              <a:buChar char="•"/>
            </a:pPr>
            <a:r>
              <a:rPr lang="en-US" sz="1560" dirty="0">
                <a:solidFill>
                  <a:srgbClr val="2736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you want to retry only failed parts, use --retranslate-errors-only.</a:t>
            </a:r>
            <a:pPr indent="0" marL="0">
              <a:buNone/>
            </a:pPr>
            <a:r>
              <a:rPr lang="en-US" sz="1560" dirty="0">
                <a:solidFill>
                  <a:srgbClr val="2736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560" dirty="0"/>
          </a:p>
          <a:p>
            <a:pPr marL="177800" indent="-177800">
              <a:buSzPct val="100000"/>
              <a:buChar char="•"/>
            </a:pPr>
            <a:r>
              <a:rPr lang="en-US" sz="1560" dirty="0">
                <a:solidFill>
                  <a:srgbClr val="2736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support escalation, include the exact command, batch_summary.json, translation_report.json, and translation_log.csv.</a:t>
            </a:r>
            <a:endParaRPr lang="en-US" sz="1560" dirty="0"/>
          </a:p>
        </p:txBody>
      </p:sp>
      <p:sp>
        <p:nvSpPr>
          <p:cNvPr id="6" name="Shape 4"/>
          <p:cNvSpPr/>
          <p:nvPr/>
        </p:nvSpPr>
        <p:spPr>
          <a:xfrm>
            <a:off x="5980176" y="1234440"/>
            <a:ext cx="5394960" cy="4407408"/>
          </a:xfrm>
          <a:prstGeom prst="roundRect">
            <a:avLst>
              <a:gd name="adj" fmla="val 249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6000"/>
              </a:srgbClr>
            </a:outerShdw>
          </a:effectLst>
        </p:spPr>
      </p:sp>
      <p:pic>
        <p:nvPicPr>
          <p:cNvPr id="7" name="Image 0" descr="/mnt/data/translator_docs_book_v5_guides/assets/troubleshoot.png">    </p:cNvPr>
          <p:cNvPicPr>
            <a:picLocks noChangeAspect="1"/>
          </p:cNvPicPr>
          <p:nvPr/>
        </p:nvPicPr>
        <p:blipFill>
          <a:blip r:embed="rId1"/>
          <a:srcRect l="8941" r="8941" t="0" b="0"/>
          <a:stretch/>
        </p:blipFill>
        <p:spPr>
          <a:xfrm>
            <a:off x="6053328" y="1307592"/>
            <a:ext cx="5248656" cy="426110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66928" y="647395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C7A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Recommendation: always run a small pilot before a large batch.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37376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7A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End-User Guide
translator_docs_book_v5.exe</dc:title>
  <dc:subject>End-User Guide
translator_docs_book_v5.exe</dc:subject>
  <dc:creator>OpenAI</dc:creator>
  <cp:lastModifiedBy>OpenAI</cp:lastModifiedBy>
  <cp:revision>1</cp:revision>
  <dcterms:created xsi:type="dcterms:W3CDTF">2026-03-14T12:22:02Z</dcterms:created>
  <dcterms:modified xsi:type="dcterms:W3CDTF">2026-03-14T12:22:02Z</dcterms:modified>
</cp:coreProperties>
</file>